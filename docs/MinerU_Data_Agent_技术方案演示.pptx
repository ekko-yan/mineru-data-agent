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b2a5ba99c4c88" /><Relationship Type="http://schemas.openxmlformats.org/officeDocument/2006/relationships/extended-properties" Target="/docProps/app.xml" Id="R454b6a63e23b4fff" /><Relationship Type="http://schemas.openxmlformats.org/officeDocument/2006/relationships/officeDocument" Target="/ppt/presentation.xml" Id="Rbfc7022ea72048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171ba3fdd34712"/>
  </p:sldMasterIdLst>
  <p:notesMasterIdLst>
    <p:notesMasterId xmlns:r="http://schemas.openxmlformats.org/officeDocument/2006/relationships" r:id="Rfdbe8b316da24441"/>
  </p:notesMasterIdLst>
  <p:sldIdLst>
    <p:sldId xmlns:r="http://schemas.openxmlformats.org/officeDocument/2006/relationships" id="256" r:id="R8b45f21580fd4d20"/>
    <p:sldId xmlns:r="http://schemas.openxmlformats.org/officeDocument/2006/relationships" id="257" r:id="R9109d3960aa74148"/>
    <p:sldId xmlns:r="http://schemas.openxmlformats.org/officeDocument/2006/relationships" id="258" r:id="R3aceaed78851406a"/>
    <p:sldId xmlns:r="http://schemas.openxmlformats.org/officeDocument/2006/relationships" id="259" r:id="R58f59df71171430a"/>
    <p:sldId xmlns:r="http://schemas.openxmlformats.org/officeDocument/2006/relationships" id="260" r:id="R2821878a6d014e0c"/>
    <p:sldId xmlns:r="http://schemas.openxmlformats.org/officeDocument/2006/relationships" id="261" r:id="R669dea9d827e4f14"/>
    <p:sldId xmlns:r="http://schemas.openxmlformats.org/officeDocument/2006/relationships" id="262" r:id="R43ef020e3ac849cd"/>
    <p:sldId xmlns:r="http://schemas.openxmlformats.org/officeDocument/2006/relationships" id="263" r:id="Rd48abb979a41459e"/>
    <p:sldId xmlns:r="http://schemas.openxmlformats.org/officeDocument/2006/relationships" id="264" r:id="R8528b313e5bb47f4"/>
    <p:sldId xmlns:r="http://schemas.openxmlformats.org/officeDocument/2006/relationships" id="265" r:id="Re68f1911779c46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71ba3fdd34712" /><Relationship Type="http://schemas.openxmlformats.org/officeDocument/2006/relationships/theme" Target="/ppt/theme/theme1.xml" Id="R604ea7184eec4135" /><Relationship Type="http://schemas.openxmlformats.org/officeDocument/2006/relationships/notesMaster" Target="/ppt/notesMasters/notesMaster1.xml" Id="Rfdbe8b316da24441" /><Relationship Type="http://schemas.openxmlformats.org/officeDocument/2006/relationships/presProps" Target="/ppt/presProps.xml" Id="R87e34454527b4db1" /><Relationship Type="http://schemas.openxmlformats.org/officeDocument/2006/relationships/viewProps" Target="/ppt/viewProps.xml" Id="R18059817bdb84717" /><Relationship Type="http://schemas.openxmlformats.org/officeDocument/2006/relationships/tableStyles" Target="/ppt/tableStyles.xml" Id="Rb34d9ff7136741f4" /><Relationship Type="http://schemas.openxmlformats.org/officeDocument/2006/relationships/slide" Target="/ppt/slides/slide1.xml" Id="R8b45f21580fd4d20" /><Relationship Type="http://schemas.openxmlformats.org/officeDocument/2006/relationships/slide" Target="/ppt/slides/slide2.xml" Id="R9109d3960aa74148" /><Relationship Type="http://schemas.openxmlformats.org/officeDocument/2006/relationships/slide" Target="/ppt/slides/slide3.xml" Id="R3aceaed78851406a" /><Relationship Type="http://schemas.openxmlformats.org/officeDocument/2006/relationships/slide" Target="/ppt/slides/slide4.xml" Id="R58f59df71171430a" /><Relationship Type="http://schemas.openxmlformats.org/officeDocument/2006/relationships/slide" Target="/ppt/slides/slide5.xml" Id="R2821878a6d014e0c" /><Relationship Type="http://schemas.openxmlformats.org/officeDocument/2006/relationships/slide" Target="/ppt/slides/slide6.xml" Id="R669dea9d827e4f14" /><Relationship Type="http://schemas.openxmlformats.org/officeDocument/2006/relationships/slide" Target="/ppt/slides/slide7.xml" Id="R43ef020e3ac849cd" /><Relationship Type="http://schemas.openxmlformats.org/officeDocument/2006/relationships/slide" Target="/ppt/slides/slide8.xml" Id="Rd48abb979a41459e" /><Relationship Type="http://schemas.openxmlformats.org/officeDocument/2006/relationships/slide" Target="/ppt/slides/slide9.xml" Id="R8528b313e5bb47f4" /><Relationship Type="http://schemas.openxmlformats.org/officeDocument/2006/relationships/slide" Target="/ppt/slides/slide10.xml" Id="Re68f1911779c46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d9f7375a4b644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8d44451d3247c1" /><Relationship Type="http://schemas.openxmlformats.org/officeDocument/2006/relationships/notesMaster" Target="/ppt/notesMasters/notesMaster1.xml" Id="Rb0fea5ee6f374f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2bc169d4f14f21" /><Relationship Type="http://schemas.openxmlformats.org/officeDocument/2006/relationships/notesMaster" Target="/ppt/notesMasters/notesMaster1.xml" Id="Rb6a09d0f9904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040e5b0bfc43d4" /><Relationship Type="http://schemas.openxmlformats.org/officeDocument/2006/relationships/notesMaster" Target="/ppt/notesMasters/notesMaster1.xml" Id="R6f92247a174c4c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d4897e9d14546" /><Relationship Type="http://schemas.openxmlformats.org/officeDocument/2006/relationships/notesMaster" Target="/ppt/notesMasters/notesMaster1.xml" Id="R3acf164cca6849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0cbf135f0b4a6d" /><Relationship Type="http://schemas.openxmlformats.org/officeDocument/2006/relationships/notesMaster" Target="/ppt/notesMasters/notesMaster1.xml" Id="R6a1f79f8a9e443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e4aa4610024cf1" /><Relationship Type="http://schemas.openxmlformats.org/officeDocument/2006/relationships/notesMaster" Target="/ppt/notesMasters/notesMaster1.xml" Id="R99bcb08ad98f49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76865078eb4f7c" /><Relationship Type="http://schemas.openxmlformats.org/officeDocument/2006/relationships/notesMaster" Target="/ppt/notesMasters/notesMaster1.xml" Id="R11acbd40c61c4b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db3d7e03804f72" /><Relationship Type="http://schemas.openxmlformats.org/officeDocument/2006/relationships/notesMaster" Target="/ppt/notesMasters/notesMaster1.xml" Id="R740a9a6a3d6e4c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31b232805455d" /><Relationship Type="http://schemas.openxmlformats.org/officeDocument/2006/relationships/notesMaster" Target="/ppt/notesMasters/notesMaster1.xml" Id="R64fcd4b6343640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e47a2b2a3a481f" /><Relationship Type="http://schemas.openxmlformats.org/officeDocument/2006/relationships/notesMaster" Target="/ppt/notesMasters/notesMaster1.xml" Id="Raa28b2fbe39b4b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e912e9daf4c0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a7b68cf75074de6" /><Relationship Type="http://schemas.openxmlformats.org/officeDocument/2006/relationships/slideLayout" Target="/ppt/slideLayouts/slideLayout2.xml" Id="R17c4b614e3304c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4b614e3304c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df3f993174330" /><Relationship Type="http://schemas.openxmlformats.org/officeDocument/2006/relationships/notesSlide" Target="/ppt/notesSlides/notesSlide1.xml" Id="Rf2777f554a54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5beec762844f5" /><Relationship Type="http://schemas.openxmlformats.org/officeDocument/2006/relationships/notesSlide" Target="/ppt/notesSlides/notesSlide2.xml" Id="R4337e082f74b4f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284d88b21a4622" /><Relationship Type="http://schemas.openxmlformats.org/officeDocument/2006/relationships/notesSlide" Target="/ppt/notesSlides/notesSlide3.xml" Id="R46fc54694c8f4f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70c04311a64808" /><Relationship Type="http://schemas.openxmlformats.org/officeDocument/2006/relationships/notesSlide" Target="/ppt/notesSlides/notesSlide4.xml" Id="R33e768430c6246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06d977fa2f4df5" /><Relationship Type="http://schemas.openxmlformats.org/officeDocument/2006/relationships/notesSlide" Target="/ppt/notesSlides/notesSlide5.xml" Id="R26b88bd75a5044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e5146f3e54891" /><Relationship Type="http://schemas.openxmlformats.org/officeDocument/2006/relationships/notesSlide" Target="/ppt/notesSlides/notesSlide6.xml" Id="Rec8cbf9ac7234f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0f8ed0279643e0" /><Relationship Type="http://schemas.openxmlformats.org/officeDocument/2006/relationships/notesSlide" Target="/ppt/notesSlides/notesSlide7.xml" Id="R6782b35bb33d44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1c447ac3a48cb" /><Relationship Type="http://schemas.openxmlformats.org/officeDocument/2006/relationships/notesSlide" Target="/ppt/notesSlides/notesSlide8.xml" Id="R26d1791ba1ea46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36b6406cd74ae2" /><Relationship Type="http://schemas.openxmlformats.org/officeDocument/2006/relationships/notesSlide" Target="/ppt/notesSlides/notesSlide9.xml" Id="Rd6bb2e63c547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c8b4226f234cc0" /><Relationship Type="http://schemas.openxmlformats.org/officeDocument/2006/relationships/notesSlide" Target="/ppt/notesSlides/notesSlide10.xml" Id="R0e4c223c17744f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4A3D4-95B2-4AAE-A2E4-5FE5F455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4D2D6-8D1E-4CC5-8F53-EED18397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3E333-AC32-4EAB-BEB4-5F428AB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C O M P E T I T I O N   D E L I V E R A B L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7E103-0809-4C63-94F2-F039D8F1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C672C-EED6-47FF-8535-0E93A97D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基于 MinerU 的文档结构化 Data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E25AF-93F0-45AE-81A7-E0169570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面向语料生产加工的自动化数据智能体：任务规划、工具调用、结构化输出、日志追踪与质量检查。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C6D9D-7C67-4FDC-908E-7486F07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47161-0D9D-473F-8AD8-7BAAE392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695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DATA</a:t>
            </a:r>
          </a:p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C09CD-62CB-4A52-A864-04D09AD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DE8E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E8E3"/>
                </a:solidFill>
                <a:latin typeface="Aptos"/>
                <a:ea typeface="Aptos"/>
                <a:cs typeface="Aptos"/>
              </a:rPr>
              <a:t>MinerU + FastAPI + 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ADB75-AB26-477E-A1A0-A4FCDBA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690CD-066A-4AC8-80CA-E4532072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3709C-57CB-43E6-B12E-020E9D4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测试任务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71A39-7062-4559-8DF5-84AD218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成功/失败/冒烟/生命周期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46DF9-6AF0-471D-A139-42BBC2BC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35DF5-3182-42A1-9BB1-F3658CED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272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CA7B1-9D6A-49A6-99BD-3FB9417F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0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PDF 片段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4C0D3-BDEF-4829-A68E-011AF7E8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72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26 页论文结构化输出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C0CAC-3EE6-4508-B9CF-7F123076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57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9F57B-B1CF-42AE-9C38-160D630A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334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7D9ABB-19B5-47C4-8F77-D6627F0C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0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DOCX 片段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F5C7B-D857-417C-AECA-725E8365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72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长文档结构化输出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5DC5F-7754-4ACE-8B23-E1F2F4D3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57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2AABF8-E67D-4066-BF28-2B99E81C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F7320-A49F-4713-8E3E-3CBB8D74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0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评测接口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9AEDDD-D160-4C45-BAC5-611A24BF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72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REST + artifact 下载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B4314-2D4C-4C18-9F71-9A6A9D70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92DD1-702B-4482-B7A6-15676A58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赛题提交材料 | 本地服务 http://127.0.0.1:8765</a:t>
            </a:r>
          </a:p>
        </p:txBody>
      </p:sp>
    </p:spTree>
    <p:extLst>
      <p:ext uri="{BB962C8B-B14F-4D97-AF65-F5344CB8AC3E}">
        <p14:creationId xmlns:p14="http://schemas.microsoft.com/office/powerpoint/2010/main" val="12929382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2E9DE-528C-4100-BD6C-7F87082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42D7C-C22F-4FD0-A53A-B1DE8299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6019-471B-46FA-8AF4-E323A0EC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P R O B L E M   F R A M I N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69076-E4E0-4F88-AF22-B953A337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1CA6F-8A3F-49A2-9E3F-74356C4D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赛题要求的是能执行的数据智能体，而不是单次解析脚本。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AAA8F-99E3-44D3-9AAD-03642E5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569EA-D1EB-41EA-B215-0A45211A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510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理解任务需求：识别输入类型、解析参数和质量目标。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18ECF-AE63-4815-B79E-4CEC4BAA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7F5FD-B7DF-4EEB-AE65-4A38B539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510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自动规划执行：把复杂目标拆成校验、解析、聚合、质检等步骤。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8FE8F-9014-4B21-9E9E-5AD1F40D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E109C-305D-4C15-A308-89E38AD3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510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工具调用闭环：调用 MinerU，并保留完整命令行和产物路径。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CCAA3-1D19-4EB7-9768-437E87E2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4F723-7D7B-4DBB-A194-B2B29166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510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可验证输出：统一生成 manifest、JSONL chunks、agent_result 和运行日志。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8542B-C3BB-4713-BFC8-7FBDD09F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714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本方案将 MinerU 作为第一解析模块，在外层补齐 Agent 所需的规划、监控、异常治理和结果验证能力。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ABA5A-EE3A-4B06-BA31-02085720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核心取舍：LLM 只用于计划和质检，不替代 MinerU 的确定性解析结果。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F4345-CF84-4F16-B1BC-7577CC35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A6B5C-CAA8-4F45-B5E5-0D3A4142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11793819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B6103-00A9-4103-AFC1-9B1BE8DC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9D1B0-CC7F-4C44-AD01-8B5955DA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71C5A-3A8F-4751-8C29-D6FA801B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A R C H I T E C T U R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B6C5F-EC5A-4FB1-A59C-D51A4D5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73CC8-30F6-46A6-AEE1-65E20B4C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前后端分离架构把解析能力包装成可评测服务。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E9F2A-C791-401D-A111-D610ACC0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F0ECE-E1A0-4904-A8C7-B0550A59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73A56-9E9F-4C44-9ADB-C0A3134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React 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5C6CD-59A0-4C86-895F-EED5DE9F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581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上传文档、参数选择、中文任务看板、命令行日志、结果下载。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6E209-B63A-4F5F-9770-F2412FB5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505C8-5739-4802-9B2A-4CB16185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8D7D5-9D6B-4413-8FF4-51D1016A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62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FastAPI 后端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5E079-BFA6-4F07-A18C-7588687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1581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异步任务接口、状态查询、进度解析、文件下载和任务删除。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E38D1-F3DF-4E32-A71E-2337DAD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EF8FA-3EC5-461A-A9B6-35B9541D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4D49D-BB51-4BE2-B0B7-8050FA33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Agent Runner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D72B-227D-4C4C-A740-1464D6F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581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任务理解、LLM 规划、MinerU 调用、结构化聚合、质量检查。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62F98-7EE5-4CC8-BAB3-3126E352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D5084-ACF3-428C-ACF8-C77EA93D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4033A-FA68-4E17-B47B-6831676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MinerU 工具层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6B87B-D81C-4B90-9E5B-5527EDC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67000"/>
            <a:ext cx="1581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CLI 与本地 mineru-api 产出 Markdown、content_list、middle_json、images。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9C2E6-25E3-4727-9199-9075E48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98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83FF8B-EF61-45B7-A083-EC1222E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098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FA161-CECC-49B8-9FC0-D802845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98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3F52A-D3F2-43F3-9556-EBEA199B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0058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3B39C-6B69-439A-82D7-B5F5D39B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77325-CC51-4BC0-91ED-F675307B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98EC1-896E-451A-B7CD-72C9D9E1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19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agent_data/jobs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C9288-5A8A-46B3-B73F-A11C3706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67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任务输入、job.json、CLI 日志和结构化产物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056A7-1857-47FD-BE94-BFE6108C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411FF-347B-49A6-9419-275A2601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8F8221-66C8-4824-BFBC-A7909F8C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419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docs/test_results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CC3EF1-601F-416A-85CF-9A4076DF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672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评测提交用的输入、日志和结果副本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D9287-CCE6-4584-93A9-F16EB4FB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EC87A7-3A81-4AEF-9502-E308DB85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247863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F3D43-5B75-4376-A3FC-7AD7838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BAC55-6A61-454C-980A-558756C0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59EDF-FB64-46D5-A418-E008B055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E X E C U T I O N   M E C H A N I S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EF669-6F13-4385-81AB-17C8C5AF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F7E70-649B-4214-AC40-AEC549B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一次任务从上传到结果，形成可追溯的 6 段执行链。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DF9CA-CDFC-4DD1-89D1-CC98DC6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7F210-4389-44F8-8CA7-1F11E3B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8D10A-302D-49EF-BE1F-D4838589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输入校验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DBF3D-BEA7-4803-93A0-E46509FB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后缀检查、保存原始文件、创建 job_id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A6B7E-A280-4FAD-91D4-3080C5B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6F5B0-E23D-49AB-8556-6E97B5EE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71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9B39B-B057-4469-918D-F0629E1D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计划生成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89EF1-3371-41A5-84F2-6BA9BB46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LLM 或规则计划输出 goal/steps/risk_controls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15CA3-EEC2-475B-8BFB-F1517D14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76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B8584-2ED3-407A-94DF-2C8ECD83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AFA4E-8718-4BBD-AECE-649EE9B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MinerU 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44393-0D0B-4229-B4C9-2CC7BA4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构造 CLI 命令，实时写入 mineru_cli.log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9D0B0-A54C-409F-B581-4F7982E0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60F10-F51F-4C63-BE63-6E45A059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5E48C-A00E-4F23-B05C-154B2478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结构化聚合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8B766-C128-4424-9335-47906BF0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读取 Markdown/content_list/middle_json/images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72DCA-238D-4EFD-9168-8810D9E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1441F-9B3E-4929-96B5-E6A01097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481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EBF0D-C4E2-479F-B4EF-0C23B997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质量检查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B7D9BF-95A4-4F60-B4A7-AC61C8A9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基于 manifest 和片段预览输出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1A5A6-967C-446E-B1BE-AF2718E4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1DD23-F2D5-42EE-8811-BB921A0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86570E-85E5-415D-965D-AE2AEF3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结果下载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C195F-6A88-49FB-BBCF-2D202084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19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manifest、chunks、agent_result、cli_log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711448-1790-472E-BDF2-9F7CD1F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88BA3B-F20F-4F9B-AFFA-C6085C8A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398ABD-F506-4367-AD1B-72CA4AA7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EDF39-286D-4372-ACD3-F397240B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A47951-9E3A-42C1-A9F3-C2A63507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D54BE-A0C2-4785-A83B-7CE5169D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16749553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1895A6-9926-46FD-81F1-8BBE05F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0A333-F347-419E-9225-74E63026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CE789-1A57-474F-96B3-A857A01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S T R U C T U R E D   O U T P U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06DC-3CBC-421A-8488-648BC672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560C3-0CCC-4FCC-8B01-AA2216E0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输出不是散文件，而是面向下游语料加工的统一结构。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B1047-3C6F-4664-90F1-AE787C7E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8D3C9-46BC-468C-82CF-B8EB64F2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0A1CC-CCF0-4325-A65D-B7263B1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structured_manifest.json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A136A-DBB6-4110-BB4F-C0E61EA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724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文档级索引：输入路径、MinerU 命令、Markdown/content_list/middle_json/model_json/images 路径和元素类型统计。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13A2E-9676-4A18-A77F-41EDC320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2ACAC-033F-4CD2-8C08-2611C360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1AD05-02D2-4C13-9E5A-CAF8BCEE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98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structured_chunks.jsonl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79A54-3F98-4492-9BFF-A2E8D7B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724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元素级片段：document、element_id、type、page_idx、text、bbox、media_path、raw，适合 RAG 和批量质检。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9AB54-32A2-4893-AEE6-146C652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48E8C-6D9E-450B-9869-78A0E778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CEE52-1F0C-4BC9-AD9B-6FDD67EF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agent_result.json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AAE70-035C-46AF-9836-DD13811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14600"/>
            <a:ext cx="2724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Agent 最终结果：执行计划、质量检查、manifest 路径、chunks 路径和片段预览。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BAFAD-D1DA-4141-90F2-6BC06703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62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85B65-39D9-43F1-BEDB-2DFE11A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61300-3D73-40FD-848A-D3B2A01C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统一索引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F1368-E6AA-4204-8004-E2884C00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便于审计和复现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8C7B0-1171-4399-BFA7-0C82DF72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5B1F1E-9D07-4FF8-96C3-7B7DB1B7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24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JSONL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01605-7AA7-4CEC-B45E-83B87CE0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05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片段流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BFB48-B50A-4B8F-BA1F-3F318A49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76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便于向量化与批处理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75A10-AACC-41D2-AD8B-C822ED9E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4E6A8-548E-4BDD-9622-E02142A0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25DCC-A8A4-41BC-B259-EA52D90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05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过程证据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209F8-2750-494A-9C88-6B98B23C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276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记录工具调用和异常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30EAD-C123-4B5D-BE3C-5B3385C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6F030-424D-4EE0-B4CB-75A10BAF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17555962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8F8B7-70C0-4DEC-A471-8867C210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14F59-C8CC-4E28-8EDB-94E48BD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5565E-5DA6-4666-A922-904D221C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A P I   S U R F A C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5BF1A-F8FB-4142-B928-6C8BAD4C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16EB9-3AC4-438C-8D44-D7202A8B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REST API 支持组委会自动提交、查询、下载和清理任务。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7813-3F5D-4EEA-A2C4-47B3ED37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93F6E-91B1-4556-8A51-23407373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4286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/api/health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  /api/parse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/api/jobs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/api/jobs/{job_id}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/api/jobs/{job_id}/progress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/api/jobs/{job_id}/cli-log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/api/jobs/{job_id}/result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GET    /api/jobs/{job_id}/artifact/{name}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DELETE /api/jobs/{job_id}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52021-EEF6-482A-9795-AEEB54C1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52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59DF2-E8E2-490B-AE53-2D1719ED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multipart/form-data 上传文档，返回异步 job_id。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E32C9-B92D-4981-B2DC-3699FAD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5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94BED-C2D1-4B1F-95FC-1E0993CF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进度接口从 MinerU CLI 日志解析页数、MFR 等阶段。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A73A3-492F-4710-93E7-CB09074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2FE1E-C832-424C-B17D-782250B6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artifact 接口下载 manifest、chunks、agent_result 和 cli_log。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ABF0F-EF74-471A-8542-6A2F5335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D8E00-B498-4202-B62B-29B1249C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删除接口会尝试终止进程树并清理任务目录。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ADCFA-107B-4D56-8089-4F35A51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3716F-181F-4435-AA30-A12D3D4A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API 基址：http://127.0.0.1:8765 | 公网部署建议在网关层增加 Bearer Token</a:t>
            </a:r>
          </a:p>
        </p:txBody>
      </p:sp>
    </p:spTree>
    <p:extLst>
      <p:ext uri="{BB962C8B-B14F-4D97-AF65-F5344CB8AC3E}">
        <p14:creationId xmlns:p14="http://schemas.microsoft.com/office/powerpoint/2010/main" val="18093575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E8342-B870-4D68-8B66-4F8D5A02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575D6-6AEB-496E-A4C6-B2CE5F82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08ABA-1C38-46BB-994E-6B352833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T E S T   R E S U L T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7FD19-7AD7-4DBF-82C1-08DC3754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6BE69-9813-42F7-BEEA-031EF287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四类真实任务覆盖成功、超时、降级和生命周期验证。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96E94-A70E-4DDB-9E5D-267F4B2C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PDF 论文结构化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3E06C-E228-4AB9-8475-84EBA2E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3837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1946C-0999-4925-A515-E1B7D99F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38375"/>
            <a:ext cx="27774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337CC-491A-4C4E-927E-5347B715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812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272 片段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BC795-7FF1-4AD4-ACFF-C9E49A4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PDF 公式压力测试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D1B07-D307-4C63-AEAD-9D12E46E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18511-42A8-45E1-A006-BBBEB307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28925"/>
            <a:ext cx="24345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6CE86-06D1-4F0E-AFF3-40EBA693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71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224/315 超时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CE0DA-068C-4CE3-96E9-7BF7B3A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DOCX 长文档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9D873-73B9-4747-A537-1E98A779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1947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0EBE6-C8EF-4316-96D8-A9CB6F4A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1947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A5621-47B9-4F79-865E-F887470F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62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334 片段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E1556-E4C7-4241-8D8E-61CB1B81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DOCX 冒烟测试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1B28F-74CD-4ED8-A951-B046DA7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100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C6713-17D7-4699-9905-E5879071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10025"/>
            <a:ext cx="6172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60A3F-52AE-410E-9FA2-A98BDAA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528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4 片段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78631-3378-4E9F-8DC3-B450868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476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C64D8-B0C4-4EE1-8667-21336517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关键结论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28DA1-7141-469D-8B44-2F01774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关闭公式/表格可显著提升 PDF 解析速度；开启公式解析时，MFR 阶段耗时明显，但系统能提供进度、超时和日志证据。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1D7EA-452F-41CE-BD16-948530D8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69F0E-A81E-42D5-9980-C305A18A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8097903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7533F-7707-48A6-8C96-1CDA7CD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F1740-4CD5-4DA3-BE07-9F5B2FDD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804CF-71B9-4494-9D3E-5EB9268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R E L I A B I L I T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5A696-F873-48DC-837B-12AE9AE2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1784-7A60-45AA-BB71-63D54F28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稳定性设计围绕可控资源、可见进度和可恢复失败。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B5500-19AD-4CD5-8CA1-3F628E29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0F382-CDFC-475E-AD3C-46C73F7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CE86F-C291-4D47-8823-1682954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并发限制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0D908-6B23-4B89-939B-361EB2EB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DATA_AGENT_MAX_RUNNING_JOBS 默认 1，避免多个 MinerU 任务抢占显存和 CPU。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1CE9D-BAA0-4FE6-A9E8-6A3C3E5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48DE1-358E-4BC0-9C09-68B4A73D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0FAB-7381-46FC-8A3F-25C054FB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86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超时治理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FE8A-01E8-45A2-BBE1-1834B77E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9080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DATA_AGENT_JOB_TIMEOUT_SECONDS 默认 1800，复杂任务超时后标记失败并保留日志。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D9234-A787-4EAD-957D-65880D9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CCCA7-25EE-4D69-ADD7-C33EA9A4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D32B4-AC79-4DE5-934F-0648C6A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86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进程清理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58175-3714-42A8-BF06-469329A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9080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任务删除时清理已注册进程树，并扫描包含 job_id 的残留进程。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83D51-9F9C-4070-8D26-EFD75F9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14550"/>
            <a:ext cx="2362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5C17D-C20F-4815-8823-AE572EFF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14550"/>
            <a:ext cx="47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76A275-7E1F-470D-AC7E-C3E22ADF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原子状态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267CD-70D5-4A8F-98F7-89BDACFF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943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job.json 使用临时文件替换，降低并发读取时的状态损坏风险。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99E125-FAC0-45EE-B6CE-A3E705EF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F6C14-674D-432A-B307-ECD54575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95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8006A-0528-43EC-BF50-38FF011C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日志可追溯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9A973-1C6B-463B-8567-A4FAE938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Agent 阶段日志 + MinerU CLI 日志 + artifact 下载接口共同构成验收证据。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06632-E0DF-48EF-8210-E3ED307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3028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4E2C6-420E-4959-A5BA-1B60D870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0A9B79-D69E-4329-A0C1-1FCA9E6D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编码兼容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CDCD43-0114-4F3E-9B08-8D4044C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720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后端读取 MinerU 输出时尝试 UTF-8、系统编码、GB18030 和 GBK。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B3835-CFE8-4CBD-B8F7-E480BE89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423661-3A0E-4177-8A55-CFFA9847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18709005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102BF-9CAC-445D-898B-C2D1D96A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61F1A-2AB3-4611-8CF7-59ECAB47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B04E-2487-40AC-BD77-5B252E75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U S E   C A S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31A39-7666-4EB4-AF3C-5E7D177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2A95B-2F61-46FF-987B-C52F2CCD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系统适合语料生产、知识库构建和文档质量审计。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8BC4C-6C0C-464F-9F4E-86E2C703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DFA46-2BE3-4BC4-8C33-4AA21072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076DD-EC08-4E4F-9B4C-8C5575F4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学术论文结构化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3406B-BF7F-44E6-B13D-24322556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2438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抽取标题、正文、公式、表格、图像和参考信息，生成可检索片段。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E882C-26F9-4177-9A01-1A64E5A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3D576-E9D8-4D24-AF39-7E1C41D1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28083-AA3E-4150-8B6E-0604C08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企业知识库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FA96C-D76D-4459-B5D6-DA34ACAE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67000"/>
            <a:ext cx="2438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将历史 PDF、Office 和图片资料转为 JSONL，供向量化和 RAG 使用。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60D72-54F8-4A51-957C-A3F0905B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E6D66-C223-459F-B4F1-D9D028D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A38DD-989D-4327-8B7F-D27CCDE1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质量审计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81C6D-CFFB-43A1-92AB-C04A129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67000"/>
            <a:ext cx="24384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通过 manifest、CLI log 和 Agent log 追溯每个结果来源。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7AD16-4CFF-4029-831D-79FC638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672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0FD1DF-3CFC-4C34-9C0B-D2EAAAB9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672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54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442FA-0116-4996-9C4A-534CA9B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386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评测平台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781DD-B707-4AEC-8882-586FD63A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434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REST API 支持自动提交任务、轮询进度和下载结构化产物。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D7B61-B061-456A-AF3E-42257599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F97C30-56D3-44DB-A6E0-854C56E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2D477-605A-47D0-8DE6-A764543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批量语料生产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5AEA2-6436-40FA-8F53-8A2BFB8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43450"/>
            <a:ext cx="2438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同一执行机制可扩展为批处理、队列调度和对象存储归档。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5FCAD-B6B5-481E-9CE2-A466492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BD24D-829F-42AF-8FF0-A2970941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MinerU Data Agent | 2026-05-21</a:t>
            </a:r>
          </a:p>
        </p:txBody>
      </p:sp>
    </p:spTree>
    <p:extLst>
      <p:ext uri="{BB962C8B-B14F-4D97-AF65-F5344CB8AC3E}">
        <p14:creationId xmlns:p14="http://schemas.microsoft.com/office/powerpoint/2010/main" val="10025059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699CD8-259D-4A07-A26B-E520785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0F2A5-2FC4-4370-B4AD-14DD1DC7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817D5-8DD4-4D68-B350-CD74FAD6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S U B M I S S I O N   P A C K A G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0BBC3-E527-4593-AE38-2B70DEF3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36E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36E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34F9D-FFE0-4268-96B5-2BD4CFB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提交材料已经覆盖部署、接口、技术报告和测试证据。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96C85-BEA5-4524-AC9B-2C6A0E0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B6564-57F6-4A91-BA98-0C52816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701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docs/系统部署与运行说明.md：架构、环境、启动、测试、日志。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36F04-C520-4124-818D-38983E8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70CC5-6D5D-44E0-9BAF-D9F014DF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701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docs/API接口说明.md：接口、参数、返回格式和认证建议。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0B602-F644-4EE7-8FA2-62A297A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D87C1-E5C1-4E5C-AD2D-4BCF3DA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701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docs/技术报告.md：设计方案、执行机制、稳定性和 5 个示例。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C6B4E-A110-49DB-BD0B-F3010AA8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9E3C-1FB7-4AC4-B5E5-F9FB6988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701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docs/测试日志与结果.md：测试任务、日志摘要和可追溯产物。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6E69F-3EF1-4266-9886-73973E15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DC0C3-BAB5-4186-95B6-4C15D846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701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docs/test_results/：输入文件、job.json、CLI 日志和结构化结果副本。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7F3C2-4AE1-4B54-A27B-3F02EA14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F"/>
                </a:solidFill>
                <a:latin typeface="Aptos"/>
                <a:ea typeface="Aptos"/>
                <a:cs typeface="Aptos"/>
              </a:rPr>
              <a:t>下一步优化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56CC8-C869-412C-AD80-9EA8B15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52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8D553-5EB6-4BB9-86CA-69F06B9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860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批量队列与优先级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0D0F2-17E9-4A2C-AFF5-7313FD4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D148E-FE4F-4B2B-A147-77FB9F28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领域专用校验器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43B6B-7846-4A08-A2BC-C38BD1DA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CEA322-01E6-477B-B5D0-5B863D59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Schema 覆盖率评测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CF344-E16C-418E-BC3F-9A668277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0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6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7C9F7-FE9A-4FF4-955F-BB7CB84F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31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0231F"/>
                </a:solidFill>
                <a:latin typeface="Aptos"/>
                <a:ea typeface="Aptos"/>
                <a:cs typeface="Aptos"/>
              </a:rPr>
              <a:t>公网鉴权与限流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04A6B-3558-4B20-A6BE-C3F22E6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131C0-102B-4858-9716-5B871351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1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0231F"/>
                </a:solidFill>
                <a:latin typeface="Georgia"/>
                <a:ea typeface="Georgia"/>
                <a:cs typeface="Georgia"/>
              </a:rPr>
              <a:t>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3316E-28DF-4DF1-B0FF-1D244591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95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36E"/>
                </a:solidFill>
                <a:latin typeface="Aptos"/>
                <a:ea typeface="Aptos"/>
                <a:cs typeface="Aptos"/>
              </a:rPr>
              <a:t>本地复现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08194-D4B3-43B0-B0F8-0AAABBAF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67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后端 8765 / 前端 5173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D33F9-BB29-4CEC-BA0D-18D2FB87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2AEC92-9221-4550-8909-913AABF1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736E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36E"/>
                </a:solidFill>
                <a:latin typeface="Aptos"/>
                <a:ea typeface="Aptos"/>
                <a:cs typeface="Aptos"/>
              </a:rPr>
              <a:t>所有密钥通过环境变量注入，提交材料不包含真实 API Key。</a:t>
            </a:r>
          </a:p>
        </p:txBody>
      </p:sp>
    </p:spTree>
    <p:extLst>
      <p:ext uri="{BB962C8B-B14F-4D97-AF65-F5344CB8AC3E}">
        <p14:creationId xmlns:p14="http://schemas.microsoft.com/office/powerpoint/2010/main" val="384744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2026-05-21T06:15:35.3490000Z</dcterms:created>
  <dcterms:modified xsi:type="dcterms:W3CDTF">2026-05-21T06:15:35.3490000Z</dcterms:modified>
</coreProperties>
</file>